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6871f09d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6871f09d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86871f09d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86871f09d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86871f09d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86871f09d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6871f09d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6871f09d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6871f09d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6871f09d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86871f09d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86871f09d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6871f09d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6871f09d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86871f09d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86871f09d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6871f09d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86871f09d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6871f09d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6871f09d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86871f09d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86871f09d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86871f09d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86871f09d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86871f09d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86871f09d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86871f09d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86871f09d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6871f09d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86871f09d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6871f09d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86871f09d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86871f09d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86871f09d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86871f09d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86871f09d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86871f09d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86871f09d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86871f09d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86871f09d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6871f09d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86871f09d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/>
              <a:t>Бизнес процесс открытия депозита-овернайта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Кельбас Павел Степанович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Организационная</a:t>
            </a:r>
            <a:r>
              <a:rPr lang="ru"/>
              <a:t> структура</a:t>
            </a:r>
            <a:endParaRPr/>
          </a:p>
        </p:txBody>
      </p:sp>
      <p:pic>
        <p:nvPicPr>
          <p:cNvPr id="61" name="Google Shape;61;p14" title="ChatGPT Image May 16, 2026, 01_46_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813" y="1017725"/>
            <a:ext cx="7162376" cy="40309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00625" y="14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Воронка открытия депозита-овернайта</a:t>
            </a:r>
            <a:endParaRPr/>
          </a:p>
        </p:txBody>
      </p:sp>
      <p:pic>
        <p:nvPicPr>
          <p:cNvPr id="68" name="Google Shape;68;p15" title="ChatGPT Image May 16, 2026, 12_52_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275" y="719688"/>
            <a:ext cx="5709294" cy="42819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ChatGPT Image May 16, 2026, 02_37_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3324"/>
            <a:ext cx="9144003" cy="26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78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PDCA операционной команды 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78350" y="228632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Команда: операционный </a:t>
            </a:r>
            <a:r>
              <a:rPr lang="ru" sz="1200">
                <a:solidFill>
                  <a:schemeClr val="dk2"/>
                </a:solidFill>
              </a:rPr>
              <a:t>блок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Цели периода: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Активировать депозиты до конца операционного дня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Снизить ошибки списания и зачисления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Исключить зависшие заявки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Обеспечить корректность проводок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628000" y="2230775"/>
            <a:ext cx="1944000" cy="28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Руководитель координирует обработку исключений.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Специалисты по деп. счетам контролируют открытие депозитного счета.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Специалисты по расч. операциям отслеживают перевод пороговой суммы, списание и зачисление средств.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Специалисты по проводкам проверяют отражение операции в учете.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783075" y="228632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Ежедневно проверяются KPI процесса. Анализируются заявки, зависшие после перевода пороговой суммы.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Проверяются ошибки списания, зачисления и проводок.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Разбираются причины неактивированных депозитов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7066050" y="223077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Обновляются регламенты обработки исключений. Настраиваются алерты по зависшим заявкам. Формируются задачи для ИТ, продукта, комплаенса или казначейства. Проверяется эффект после изменений.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KPI операционной команды</a:t>
            </a:r>
            <a:endParaRPr/>
          </a:p>
        </p:txBody>
      </p:sp>
      <p:pic>
        <p:nvPicPr>
          <p:cNvPr id="86" name="Google Shape;86;p17" title="ChatGPT Image May 16, 2026, 03_00_5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450" y="1017725"/>
            <a:ext cx="509463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AS IS процесса открытия овернайт-депозита: L1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63" y="1092350"/>
            <a:ext cx="796637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AS IS процесса открытия овернайт-депозита: Валидация</a:t>
            </a:r>
            <a:endParaRPr sz="2420"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625" y="1017725"/>
            <a:ext cx="745517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20"/>
              <a:t>AS IS процесса открытия овернайт-депозита: Создание счета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197" cy="37561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AS IS процесса открытия овернайт-депозита: Размещение средств</a:t>
            </a:r>
            <a:endParaRPr sz="2000"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50" y="1283375"/>
            <a:ext cx="8839200" cy="337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процесса AS IS</a:t>
            </a:r>
            <a:endParaRPr/>
          </a:p>
        </p:txBody>
      </p:sp>
      <p:pic>
        <p:nvPicPr>
          <p:cNvPr id="121" name="Google Shape;121;p22" title="ChatGPT Image May 16, 2026, 03_47_1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613" y="1017725"/>
            <a:ext cx="509463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Черный лебедь: требования ЦБ</a:t>
            </a:r>
            <a:endParaRPr/>
          </a:p>
        </p:txBody>
      </p:sp>
      <p:pic>
        <p:nvPicPr>
          <p:cNvPr id="128" name="Google Shape;128;p23" title="ChatGPT Image May 16, 2026, 03_58_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375" y="1017725"/>
            <a:ext cx="67892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TO BE</a:t>
            </a:r>
            <a:r>
              <a:rPr lang="ru"/>
              <a:t> процесса открытия овернайт-депозита: L1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38" y="1092350"/>
            <a:ext cx="7800516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20"/>
              <a:t>AS IS процесса открытия овернайт-депозита: Валидация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000" y="1017725"/>
            <a:ext cx="650408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/>
          <p:nvPr/>
        </p:nvSpPr>
        <p:spPr>
          <a:xfrm>
            <a:off x="3382250" y="2503800"/>
            <a:ext cx="5331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3382250" y="1044775"/>
            <a:ext cx="5331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AS IS процесса открытия овернайт-депозита: Создание счета</a:t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41178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/>
          <p:nvPr/>
        </p:nvSpPr>
        <p:spPr>
          <a:xfrm>
            <a:off x="1300575" y="2415475"/>
            <a:ext cx="5331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2417000" y="2415475"/>
            <a:ext cx="5331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AS IS процесса открытия овернайт-депозита: Размещение средств</a:t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427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/>
          <p:nvPr/>
        </p:nvSpPr>
        <p:spPr>
          <a:xfrm>
            <a:off x="1196525" y="1561325"/>
            <a:ext cx="2555400" cy="111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3850475" y="2746450"/>
            <a:ext cx="5331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4674650" y="2038650"/>
            <a:ext cx="5331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5734425" y="2795575"/>
            <a:ext cx="1320300" cy="53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процесса TO BE</a:t>
            </a:r>
            <a:endParaRPr/>
          </a:p>
        </p:txBody>
      </p:sp>
      <p:pic>
        <p:nvPicPr>
          <p:cNvPr id="171" name="Google Shape;171;p28" title="ChatGPT Image May 16, 2026, 04_11_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375" y="1322525"/>
            <a:ext cx="67892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 title="ChatGPT Image May 16, 2026, 02_37_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3324"/>
            <a:ext cx="9144003" cy="26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PDCA проектной команды: MVP мультивалютных депозитов </a:t>
            </a:r>
            <a:endParaRPr sz="2320"/>
          </a:p>
        </p:txBody>
      </p:sp>
      <p:sp>
        <p:nvSpPr>
          <p:cNvPr id="179" name="Google Shape;179;p29"/>
          <p:cNvSpPr txBox="1"/>
          <p:nvPr/>
        </p:nvSpPr>
        <p:spPr>
          <a:xfrm>
            <a:off x="378350" y="228632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Команда: продуктовый блок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Цель периода: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З</a:t>
            </a:r>
            <a:r>
              <a:rPr lang="ru" sz="1200">
                <a:solidFill>
                  <a:schemeClr val="dk2"/>
                </a:solidFill>
              </a:rPr>
              <a:t>апустить MVP мультивалютного открытия овернайт-депозита.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2628000" y="2230775"/>
            <a:ext cx="1944000" cy="28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Product Owner задает границы MVP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Системный аналитик описывает изменения в сервисах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UX / UI-аналитик проектирует выбор валюты в заявке. Backend-разработчик реализует валютные параметры и проверку лимита.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QA проверяет основные сценарии открытия.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4783075" y="228632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Измеряется доля мультивалютных депозитов. Проверяется доля нарушений валютных ограничений. Анализируются ошибки открытия мультивалютных заявок. Сравнивается время открытия с AS IS.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7066050" y="223077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Закрепляются рабочие сценарии.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Проблемы MVP переносятся в backlog.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Уточняются правила валидации. Корректируются интерфейс, ошибки и backend-логика.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 title="ChatGPT Image May 16, 2026, 02_37_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3324"/>
            <a:ext cx="9144003" cy="26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120"/>
              <a:t>PDCA проектной команды: </a:t>
            </a:r>
            <a:r>
              <a:rPr lang="ru" sz="2120"/>
              <a:t>Оптимизация и исправление ошибок</a:t>
            </a:r>
            <a:endParaRPr sz="2120"/>
          </a:p>
        </p:txBody>
      </p:sp>
      <p:sp>
        <p:nvSpPr>
          <p:cNvPr id="190" name="Google Shape;190;p30"/>
          <p:cNvSpPr txBox="1"/>
          <p:nvPr/>
        </p:nvSpPr>
        <p:spPr>
          <a:xfrm>
            <a:off x="378350" y="228632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Команда: продуктовый блок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Цель периода: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И</a:t>
            </a:r>
            <a:r>
              <a:rPr lang="ru" sz="1200">
                <a:solidFill>
                  <a:schemeClr val="dk2"/>
                </a:solidFill>
              </a:rPr>
              <a:t>справить ошибки MVP и стабилизировать мультивалютный процесс.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2628000" y="2230775"/>
            <a:ext cx="1944000" cy="28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Уточняется расчет лимита 50%. Улучшаются подсказки клиенту. Дорабатывается валютная валидация. Настраивается мониторинг ошибок. Проводится регрессионное тестирование.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4783075" y="228632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Проверяется доля заявок с нарушением валютных ограничений.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Анализируется доля мультивалютных депозитов.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Проверяется корректность лимита 50%.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Контролируются ошибки интеграций и время открытия.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7066050" y="2230775"/>
            <a:ext cx="19440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Рабочие правила закрепляются в TO BE.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Ошибочные сценарии закрываются доработками.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Обновляются тесты и мониторинг.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Решается вопрос о масштабировании мультивалютного сценария.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Риски и trade-off TO BE 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950" y="1114750"/>
            <a:ext cx="641808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Альтернативные сценарии</a:t>
            </a:r>
            <a:endParaRPr/>
          </a:p>
        </p:txBody>
      </p:sp>
      <p:pic>
        <p:nvPicPr>
          <p:cNvPr id="207" name="Google Shape;207;p32" title="ChatGPT Image May 16, 2026, 05_11_1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100" y="951275"/>
            <a:ext cx="7205802" cy="405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Nord star метрики</a:t>
            </a:r>
            <a:endParaRPr/>
          </a:p>
        </p:txBody>
      </p:sp>
      <p:pic>
        <p:nvPicPr>
          <p:cNvPr id="214" name="Google Shape;214;p33" title="ChatGPT Image May 16, 2026, 05_15_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650" y="959675"/>
            <a:ext cx="67892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В результате анализа стало видно, что ключевая проблема процесса открытия овернайт-депозита заключается не в технической возможности открыть депозит, а в способности банка быстро адаптировать продукт к новым бизнес- и регуляторным условиям без потери управляемости процесса.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Переход от AS IS к TO BE показывает, что добавление мультивалютности делает продукт более ценным для юридических лиц, но одновременно повышает сложность процесса. Появляются новые варианты клиентского поведения, дополнительные проверки, валютные ограничения и риск увеличения числа отказов. Поэтому само изменение процесса недостаточно: его необходимо сопровождать мониторингом метрик, PDCA-циклами и четким распределением ответственности между командами.</a:t>
            </a:r>
            <a:endParaRPr/>
          </a:p>
        </p:txBody>
      </p:sp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